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手语动作准确度评测技术路线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技术汇报稿</a:t>
            </a:r>
            <a:br/>
            <a:br/>
            <a:r>
              <a:rPr/>
              <a:t>signLanguage 项目组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课题目标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面向手语学习与训练场景，构建动作准确度评测系统</a:t>
            </a:r>
          </a:p>
          <a:p>
            <a:pPr lvl="0"/>
            <a:r>
              <a:rPr/>
              <a:t>输入为摄像头视频或离线视频</a:t>
            </a:r>
          </a:p>
          <a:p>
            <a:pPr lvl="0"/>
            <a:r>
              <a:rPr/>
              <a:t>输出为语义匹配结果、评分、分项误差和纠错建议</a:t>
            </a:r>
          </a:p>
          <a:p>
            <a:pPr lvl="0"/>
            <a:r>
              <a:rPr/>
              <a:t>当前阶段仅覆盖孤立词，不覆盖连续手语翻译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需求边界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识别问题：用户做的是哪个手语词</a:t>
            </a:r>
          </a:p>
          <a:p>
            <a:pPr lvl="0"/>
            <a:r>
              <a:rPr/>
              <a:t>评测问题：用户动作与标准动作相似到什么程度</a:t>
            </a:r>
          </a:p>
          <a:p>
            <a:pPr lvl="0"/>
            <a:r>
              <a:rPr/>
              <a:t>本项目聚焦评测，不以端到端翻译为目标</a:t>
            </a:r>
          </a:p>
          <a:p>
            <a:pPr lvl="0"/>
            <a:r>
              <a:rPr/>
              <a:t>系统必须具备可解释性，能够定位动作偏差来源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技术路线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视频输入
  -&gt; MediaPipe Holistic 关键点提取
  -&gt; 关键点清洗、归一化、时序对齐
  -&gt; 标准动作库匹配
  -&gt; 逐关节差异分析
  -&gt; 评分与反馈输出</a:t>
            </a:r>
          </a:p>
          <a:p>
            <a:pPr lvl="0"/>
            <a:r>
              <a:rPr/>
              <a:t>基础层：模板库 + 相似度检索 + 基础评分</a:t>
            </a:r>
          </a:p>
          <a:p>
            <a:pPr lvl="0"/>
            <a:r>
              <a:rPr/>
              <a:t>增强层：DTW 对齐 + 细粒度误差分析 + 错误定位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核心选择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MediaPipe Holistic</a:t>
            </a:r>
          </a:p>
          <a:p>
            <a:pPr lvl="1"/>
            <a:r>
              <a:rPr/>
              <a:t>同时覆盖手部、人体姿态和面部关键点</a:t>
            </a:r>
          </a:p>
          <a:p>
            <a:pPr lvl="1"/>
            <a:r>
              <a:rPr/>
              <a:t>适合实时推理和快速原型开发</a:t>
            </a:r>
          </a:p>
          <a:p>
            <a:pPr lvl="0"/>
            <a:r>
              <a:rPr>
                <a:latin typeface="Courier"/>
              </a:rPr>
              <a:t>FAISS</a:t>
            </a:r>
          </a:p>
          <a:p>
            <a:pPr lvl="1"/>
            <a:r>
              <a:rPr/>
              <a:t>适合标准模板的粗召回</a:t>
            </a:r>
          </a:p>
          <a:p>
            <a:pPr lvl="1"/>
            <a:r>
              <a:rPr/>
              <a:t>不适合作为最终评分依据</a:t>
            </a:r>
          </a:p>
          <a:p>
            <a:pPr lvl="0"/>
            <a:r>
              <a:rPr>
                <a:latin typeface="Courier"/>
              </a:rPr>
              <a:t>DTW</a:t>
            </a:r>
          </a:p>
          <a:p>
            <a:pPr lvl="1"/>
            <a:r>
              <a:rPr/>
              <a:t>适合处理动作快慢不一致</a:t>
            </a:r>
          </a:p>
          <a:p>
            <a:pPr lvl="1"/>
            <a:r>
              <a:rPr/>
              <a:t>是评测环节的重要补充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标准动作库
  -&gt; 关键点提取与预处理
  -&gt; 粗匹配
  -&gt; 精细比对
  -&gt; 评分与反馈</a:t>
            </a:r>
          </a:p>
          <a:p>
            <a:pPr lvl="0"/>
            <a:r>
              <a:rPr/>
              <a:t>标准动作库：每个语义保留多个模板样本</a:t>
            </a:r>
          </a:p>
          <a:p>
            <a:pPr lvl="0"/>
            <a:r>
              <a:rPr/>
              <a:t>预处理：去噪、归一化、统一帧长</a:t>
            </a:r>
          </a:p>
          <a:p>
            <a:pPr lvl="0"/>
            <a:r>
              <a:rPr/>
              <a:t>粗匹配：候选语义召回</a:t>
            </a:r>
          </a:p>
          <a:p>
            <a:pPr lvl="0"/>
            <a:r>
              <a:rPr/>
              <a:t>精细比对：差异计算与错误分析</a:t>
            </a:r>
          </a:p>
          <a:p>
            <a:pPr lvl="0"/>
            <a:r>
              <a:rPr/>
              <a:t>输出层：总分、分项分、等级、建议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特征设计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主特征优先使用关键点序列，不依赖 RGB 作为主路径</a:t>
            </a:r>
          </a:p>
          <a:p>
            <a:pPr lvl="0"/>
            <a:r>
              <a:rPr/>
              <a:t>建议分两层表示：</a:t>
            </a:r>
          </a:p>
          <a:p>
            <a:pPr lvl="1"/>
            <a:r>
              <a:rPr/>
              <a:t>手部 + 身体关键点作为主分支</a:t>
            </a:r>
          </a:p>
          <a:p>
            <a:pPr lvl="1"/>
            <a:r>
              <a:rPr/>
              <a:t>面部关键点作为可选增强分支</a:t>
            </a:r>
          </a:p>
          <a:p>
            <a:pPr lvl="0"/>
            <a:r>
              <a:rPr/>
              <a:t>统一处理规范：</a:t>
            </a:r>
          </a:p>
          <a:p>
            <a:pPr lvl="1"/>
            <a:r>
              <a:rPr/>
              <a:t>坐标归一化</a:t>
            </a:r>
          </a:p>
          <a:p>
            <a:pPr lvl="1"/>
            <a:r>
              <a:rPr/>
              <a:t>参考系对齐</a:t>
            </a:r>
          </a:p>
          <a:p>
            <a:pPr lvl="1"/>
            <a:r>
              <a:rPr/>
              <a:t>左右手顺序固定</a:t>
            </a:r>
          </a:p>
          <a:p>
            <a:pPr lvl="1"/>
            <a:r>
              <a:rPr/>
              <a:t>固定帧数插值或采样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评分设计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不使用单一相似度作为最终结论</a:t>
            </a:r>
          </a:p>
          <a:p>
            <a:pPr lvl="0"/>
            <a:r>
              <a:rPr/>
              <a:t>建议采用分项评分再加权汇总</a:t>
            </a:r>
          </a:p>
          <a:p>
            <a:pPr lvl="0" indent="0" marL="0">
              <a:buNone/>
            </a:pPr>
            <a:r>
              <a:rPr/>
              <a:t>建议分项：</a:t>
            </a:r>
          </a:p>
          <a:p>
            <a:pPr lvl="0"/>
            <a:r>
              <a:rPr/>
              <a:t>手势准确度</a:t>
            </a:r>
          </a:p>
          <a:p>
            <a:pPr lvl="0"/>
            <a:r>
              <a:rPr/>
              <a:t>姿态准确度</a:t>
            </a:r>
          </a:p>
          <a:p>
            <a:pPr lvl="0"/>
            <a:r>
              <a:rPr/>
              <a:t>时序一致性</a:t>
            </a:r>
          </a:p>
          <a:p>
            <a:pPr lvl="0"/>
            <a:r>
              <a:rPr/>
              <a:t>流畅度</a:t>
            </a:r>
          </a:p>
          <a:p>
            <a:pPr lvl="0" indent="0" marL="0">
              <a:buNone/>
            </a:pPr>
            <a:r>
              <a:rPr/>
              <a:t>输出结果：</a:t>
            </a:r>
          </a:p>
          <a:p>
            <a:pPr lvl="0"/>
            <a:r>
              <a:rPr/>
              <a:t>总分</a:t>
            </a:r>
          </a:p>
          <a:p>
            <a:pPr lvl="0"/>
            <a:r>
              <a:rPr/>
              <a:t>等级</a:t>
            </a:r>
          </a:p>
          <a:p>
            <a:pPr lvl="0"/>
            <a:r>
              <a:rPr/>
              <a:t>分项分</a:t>
            </a:r>
          </a:p>
          <a:p>
            <a:pPr lvl="0"/>
            <a:r>
              <a:rPr/>
              <a:t>Top Errors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错误分析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逐关节误差：定位偏差最大的关键点</a:t>
            </a:r>
          </a:p>
          <a:p>
            <a:pPr lvl="0"/>
            <a:r>
              <a:rPr/>
              <a:t>时序误差：定位动作过快或过慢的区间</a:t>
            </a:r>
          </a:p>
          <a:p>
            <a:pPr lvl="0"/>
            <a:r>
              <a:rPr/>
              <a:t>关键帧误差：比较起势、峰值、收势</a:t>
            </a:r>
          </a:p>
          <a:p>
            <a:pPr lvl="0"/>
            <a:r>
              <a:rPr/>
              <a:t>反馈要求具体、可执行、可复核</a:t>
            </a:r>
          </a:p>
          <a:p>
            <a:pPr lvl="0" indent="0" marL="0">
              <a:buNone/>
            </a:pPr>
            <a:r>
              <a:rPr/>
              <a:t>示例输出：</a:t>
            </a:r>
          </a:p>
          <a:p>
            <a:pPr lvl="0"/>
            <a:r>
              <a:rPr/>
              <a:t>右手腕偏离标准轨迹</a:t>
            </a:r>
          </a:p>
          <a:p>
            <a:pPr lvl="0"/>
            <a:r>
              <a:rPr/>
              <a:t>动作峰值出现时间提前</a:t>
            </a:r>
          </a:p>
          <a:p>
            <a:pPr lvl="0"/>
            <a:r>
              <a:rPr/>
              <a:t>肩部稳定性不足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数据策略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每个语义至少保留 3-5 个标准样本</a:t>
            </a:r>
          </a:p>
          <a:p>
            <a:pPr lvl="0"/>
            <a:r>
              <a:rPr/>
              <a:t>标准样本应覆盖不同录制人、角度和速度</a:t>
            </a:r>
          </a:p>
          <a:p>
            <a:pPr lvl="0"/>
            <a:r>
              <a:rPr/>
              <a:t>应保留失败样本，避免数据只反映“理想动作”</a:t>
            </a:r>
          </a:p>
          <a:p>
            <a:pPr lvl="0"/>
            <a:r>
              <a:rPr/>
              <a:t>MVP 阶段建议先做 5-10 个词，完成闭环验证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分阶段实施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阶段 1：MVP</a:t>
            </a:r>
          </a:p>
          <a:p>
            <a:pPr lvl="0"/>
            <a:r>
              <a:rPr/>
              <a:t>MediaPipe 关键点提取</a:t>
            </a:r>
          </a:p>
          <a:p>
            <a:pPr lvl="0"/>
            <a:r>
              <a:rPr/>
              <a:t>标准动作录制</a:t>
            </a:r>
          </a:p>
          <a:p>
            <a:pPr lvl="0"/>
            <a:r>
              <a:rPr/>
              <a:t>特征保存与加载</a:t>
            </a:r>
          </a:p>
          <a:p>
            <a:pPr lvl="0"/>
            <a:r>
              <a:rPr/>
              <a:t>FAISS 粗检索</a:t>
            </a:r>
          </a:p>
          <a:p>
            <a:pPr lvl="0"/>
            <a:r>
              <a:rPr/>
              <a:t>基础相似度评分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 2：评测增强</a:t>
            </a:r>
          </a:p>
          <a:p>
            <a:pPr lvl="0"/>
            <a:r>
              <a:rPr/>
              <a:t>DTW 时序对齐</a:t>
            </a:r>
          </a:p>
          <a:p>
            <a:pPr lvl="0"/>
            <a:r>
              <a:rPr/>
              <a:t>逐关节差异分析</a:t>
            </a:r>
          </a:p>
          <a:p>
            <a:pPr lvl="0"/>
            <a:r>
              <a:rPr/>
              <a:t>分项评分</a:t>
            </a:r>
          </a:p>
          <a:p>
            <a:pPr lvl="0"/>
            <a:r>
              <a:rPr/>
              <a:t>错误部位提示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 3：模型升级</a:t>
            </a:r>
          </a:p>
          <a:p>
            <a:pPr lvl="0"/>
            <a:r>
              <a:rPr/>
              <a:t>LSTM / GRU</a:t>
            </a:r>
          </a:p>
          <a:p>
            <a:pPr lvl="0"/>
            <a:r>
              <a:rPr/>
              <a:t>Transformer</a:t>
            </a:r>
          </a:p>
          <a:p>
            <a:pPr lvl="0"/>
            <a:r>
              <a:rPr/>
              <a:t>ST-GCN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主要风险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模板数量不足</a:t>
            </a:r>
          </a:p>
          <a:p>
            <a:pPr lvl="1"/>
            <a:r>
              <a:rPr/>
              <a:t>采用多模板库，不依赖单样本</a:t>
            </a:r>
          </a:p>
          <a:p>
            <a:pPr lvl="0"/>
            <a:r>
              <a:rPr/>
              <a:t>动作快慢差异较大</a:t>
            </a:r>
          </a:p>
          <a:p>
            <a:pPr lvl="1"/>
            <a:r>
              <a:rPr/>
              <a:t>引入 DTW 和关键帧对齐</a:t>
            </a:r>
          </a:p>
          <a:p>
            <a:pPr lvl="0"/>
            <a:r>
              <a:rPr/>
              <a:t>评分不具备解释性</a:t>
            </a:r>
          </a:p>
          <a:p>
            <a:pPr lvl="1"/>
            <a:r>
              <a:rPr/>
              <a:t>输出分项分和误差定位</a:t>
            </a:r>
          </a:p>
          <a:p>
            <a:pPr lvl="0"/>
            <a:r>
              <a:rPr/>
              <a:t>噪声干扰较强</a:t>
            </a:r>
          </a:p>
          <a:p>
            <a:pPr lvl="1"/>
            <a:r>
              <a:rPr/>
              <a:t>主路径优先使用关键点而非 RGB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当前最优路线是“可解释的动作评测”，不是“端到端翻译”</a:t>
            </a:r>
          </a:p>
          <a:p>
            <a:pPr lvl="0"/>
            <a:r>
              <a:rPr/>
              <a:t>最稳妥的实现顺序是：</a:t>
            </a:r>
          </a:p>
          <a:p>
            <a:pPr lvl="1"/>
            <a:r>
              <a:rPr>
                <a:latin typeface="Courier"/>
              </a:rPr>
              <a:t>MediaPipe</a:t>
            </a:r>
          </a:p>
          <a:p>
            <a:pPr lvl="1"/>
            <a:r>
              <a:rPr/>
              <a:t>标准动作库</a:t>
            </a:r>
          </a:p>
          <a:p>
            <a:pPr lvl="1"/>
            <a:r>
              <a:rPr>
                <a:latin typeface="Courier"/>
              </a:rPr>
              <a:t>FAISS</a:t>
            </a:r>
          </a:p>
          <a:p>
            <a:pPr lvl="1"/>
            <a:r>
              <a:rPr>
                <a:latin typeface="Courier"/>
              </a:rPr>
              <a:t>DTW</a:t>
            </a:r>
          </a:p>
          <a:p>
            <a:pPr lvl="1"/>
            <a:r>
              <a:rPr/>
              <a:t>逐关节误差</a:t>
            </a:r>
          </a:p>
          <a:p>
            <a:pPr lvl="1"/>
            <a:r>
              <a:rPr/>
              <a:t>评分与纠错</a:t>
            </a:r>
          </a:p>
          <a:p>
            <a:pPr lvl="0"/>
            <a:r>
              <a:rPr/>
              <a:t>在评测闭环稳定后，再引入更强的时序模型提升上限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手语动作准确度评测技术路线</dc:title>
  <dc:creator>signLanguage 项目组</dc:creator>
  <cp:keywords/>
  <dcterms:created xsi:type="dcterms:W3CDTF">2026-04-23T07:05:53Z</dcterms:created>
  <dcterms:modified xsi:type="dcterms:W3CDTF">2026-04-23T07:05:53Z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2026-04-23</vt:lpwstr>
  </property>
  <property fmtid="{D5CDD505-2E9C-101B-9397-08002B2CF9AE}" pid="3" name="subtitle">
    <vt:lpwstr>技术汇报稿</vt:lpwstr>
  </property>
</Properties>
</file>